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18120" y="-685800"/>
            <a:ext cx="4937760" cy="4937760"/>
          </a:xfrm>
          <a:prstGeom prst="ellipse">
            <a:avLst/>
          </a:prstGeom>
          <a:solidFill>
            <a:srgbClr val="4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2971800"/>
            <a:ext cx="4297680" cy="4297680"/>
          </a:xfrm>
          <a:prstGeom prst="ellipse">
            <a:avLst/>
          </a:prstGeom>
          <a:solidFill>
            <a:srgbClr val="B05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01000" y="1965960"/>
            <a:ext cx="1828800" cy="1828800"/>
          </a:xfrm>
          <a:prstGeom prst="ellipse">
            <a:avLst/>
          </a:prstGeom>
          <a:solidFill>
            <a:srgbClr val="DAB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5943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AB78B"/>
                </a:solidFill>
                <a:latin typeface="Aptos"/>
              </a:rPr>
              <a:t>DECODELABS  |  PROJECT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7589520" cy="1645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8F4EB"/>
                </a:solidFill>
                <a:latin typeface="Aptos"/>
              </a:rPr>
              <a:t>SOCIAL MEDIA
CONTENT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65836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C3D0B8"/>
                </a:solidFill>
                <a:latin typeface="Aptos"/>
              </a:rPr>
              <a:t>A practical content plan for a café / restaurant brand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297680"/>
            <a:ext cx="1097280" cy="54864"/>
          </a:xfrm>
          <a:prstGeom prst="rect">
            <a:avLst/>
          </a:prstGeom>
          <a:solidFill>
            <a:srgbClr val="B05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6217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Brand concept: Brew &amp; Bite Café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6858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3D0B8"/>
                </a:solidFill>
                <a:latin typeface="Aptos"/>
              </a:rPr>
              <a:t>Prepared as a sample strategy for the Project 1 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080760"/>
            <a:ext cx="6858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AB78B"/>
                </a:solidFill>
                <a:latin typeface="Aptos"/>
              </a:rPr>
              <a:t>CONTENT  •  COMMUNITY  •  CONSISTENCY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05E40"/>
                </a:solidFill>
                <a:latin typeface="Aptos"/>
              </a:rPr>
              <a:t>01 / PROJECT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A3028"/>
                </a:solidFill>
                <a:latin typeface="Aptos"/>
              </a:rPr>
              <a:t>What this project aims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22860"/>
          </a:xfrm>
          <a:prstGeom prst="rect">
            <a:avLst/>
          </a:prstGeom>
          <a:solidFill>
            <a:srgbClr val="C3D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86C62"/>
                </a:solidFill>
                <a:latin typeface="Aptos"/>
              </a:rPr>
              <a:t>DECODELABS  •  DIGITAL MARKETING PROJECT 1                                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070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3028"/>
                </a:solidFill>
                <a:latin typeface="Aptos"/>
              </a:rPr>
              <a:t>The DecodeLabs brief asks for a simple social media content plan built around three essentials: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34290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514600"/>
            <a:ext cx="82296" cy="1965960"/>
          </a:xfrm>
          <a:prstGeom prst="rect">
            <a:avLst/>
          </a:prstGeom>
          <a:solidFill>
            <a:srgbClr val="4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679192"/>
            <a:ext cx="30632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66048"/>
                </a:solidFill>
                <a:latin typeface="Aptos"/>
              </a:rPr>
              <a:t>01  Audience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136392"/>
            <a:ext cx="3044952" cy="12161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A3028"/>
                </a:solidFill>
                <a:latin typeface="Aptos"/>
              </a:rPr>
              <a:t>Identify who the café wants to reach and what content is useful or appealing to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514600"/>
            <a:ext cx="34290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514600"/>
            <a:ext cx="82296" cy="1965960"/>
          </a:xfrm>
          <a:prstGeom prst="rect">
            <a:avLst/>
          </a:prstGeom>
          <a:solidFill>
            <a:srgbClr val="B05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679192"/>
            <a:ext cx="30632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B05E40"/>
                </a:solidFill>
                <a:latin typeface="Aptos"/>
              </a:rPr>
              <a:t>02  Content ideas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136392"/>
            <a:ext cx="3044952" cy="12161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A3028"/>
                </a:solidFill>
                <a:latin typeface="Aptos"/>
              </a:rPr>
              <a:t>Plan varied posts that showcase menu items, the café atmosphere, offers and customer moments.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514600"/>
            <a:ext cx="34290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514600"/>
            <a:ext cx="82296" cy="1965960"/>
          </a:xfrm>
          <a:prstGeom prst="rect">
            <a:avLst/>
          </a:prstGeom>
          <a:solidFill>
            <a:srgbClr val="DAB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679192"/>
            <a:ext cx="30632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DAB78B"/>
                </a:solidFill>
                <a:latin typeface="Aptos"/>
              </a:rPr>
              <a:t>03  Posting schedule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136392"/>
            <a:ext cx="3044952" cy="12161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A3028"/>
                </a:solidFill>
                <a:latin typeface="Aptos"/>
              </a:rPr>
              <a:t>Use a realistic weekly calendar so content is planned ahead and published consistently.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74920"/>
            <a:ext cx="1042416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1">
                <a:solidFill>
                  <a:srgbClr val="466048"/>
                </a:solidFill>
                <a:latin typeface="Aptos"/>
              </a:rPr>
              <a:t>Approach: start small, learn from engagement, and improve the plan over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05E40"/>
                </a:solidFill>
                <a:latin typeface="Aptos"/>
              </a:rPr>
              <a:t>02 / BRAND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A3028"/>
                </a:solidFill>
                <a:latin typeface="Aptos"/>
              </a:rPr>
              <a:t>Meet Brew &amp; Bite Café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22860"/>
          </a:xfrm>
          <a:prstGeom prst="rect">
            <a:avLst/>
          </a:prstGeom>
          <a:solidFill>
            <a:srgbClr val="C3D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86C62"/>
                </a:solidFill>
                <a:latin typeface="Aptos"/>
              </a:rPr>
              <a:t>DECODELABS  •  DIGITAL MARKETING PROJECT 1                                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657600" cy="4251960"/>
          </a:xfrm>
          <a:prstGeom prst="roundRect">
            <a:avLst/>
          </a:prstGeom>
          <a:solidFill>
            <a:srgbClr val="4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3017520" cy="1417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F8F4EB"/>
                </a:solidFill>
                <a:latin typeface="Aptos"/>
              </a:rPr>
              <a:t>BREW
&amp; BITE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886200"/>
            <a:ext cx="30632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C3D0B8"/>
                </a:solidFill>
                <a:latin typeface="Aptos"/>
              </a:rPr>
              <a:t>COFFEE  •  COMFORT FOOD  •  GOOD COMPANY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783080"/>
            <a:ext cx="58521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B05E40"/>
                </a:solidFill>
                <a:latin typeface="Aptos"/>
              </a:rPr>
              <a:t>Brand positioning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240280"/>
            <a:ext cx="621792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028"/>
                </a:solidFill>
                <a:latin typeface="Aptos"/>
              </a:rPr>
              <a:t>A welcoming neighbourhood café for people who want good coffee, casual food and a comfortable place to meet, study or take a break.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3657600"/>
            <a:ext cx="58521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B05E40"/>
                </a:solidFill>
                <a:latin typeface="Aptos"/>
              </a:rPr>
              <a:t>Social media personality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4114800"/>
            <a:ext cx="6217920" cy="1554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A3028"/>
                </a:solidFill>
                <a:latin typeface="Aptos"/>
              </a:defRPr>
            </a:pPr>
            <a:r>
              <a:t>•  Warm, friendly and conversational</a:t>
            </a:r>
          </a:p>
          <a:p>
            <a:pPr>
              <a:spcAft>
                <a:spcPts val="900"/>
              </a:spcAft>
              <a:defRPr sz="1600">
                <a:solidFill>
                  <a:srgbClr val="2A3028"/>
                </a:solidFill>
                <a:latin typeface="Aptos"/>
              </a:defRPr>
            </a:pPr>
            <a:r>
              <a:t>•  Visual-first: food close-ups, drinks and café ambience</a:t>
            </a:r>
          </a:p>
          <a:p>
            <a:pPr>
              <a:spcAft>
                <a:spcPts val="900"/>
              </a:spcAft>
              <a:defRPr sz="1600">
                <a:solidFill>
                  <a:srgbClr val="2A3028"/>
                </a:solidFill>
                <a:latin typeface="Aptos"/>
              </a:defRPr>
            </a:pPr>
            <a:r>
              <a:t>•  Community-focused: customer moments, polls and local recommendations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053328"/>
            <a:ext cx="10515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86C62"/>
                </a:solidFill>
                <a:latin typeface="Aptos"/>
              </a:rPr>
              <a:t>Note: Brew &amp; Bite is a fictional sample brand created for this project.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05E40"/>
                </a:solidFill>
                <a:latin typeface="Aptos"/>
              </a:rPr>
              <a:t>03 / AUDIENCE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A3028"/>
                </a:solidFill>
                <a:latin typeface="Aptos"/>
              </a:rPr>
              <a:t>Who are we speaking to?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22860"/>
          </a:xfrm>
          <a:prstGeom prst="rect">
            <a:avLst/>
          </a:prstGeom>
          <a:solidFill>
            <a:srgbClr val="C3D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86C62"/>
                </a:solidFill>
                <a:latin typeface="Aptos"/>
              </a:rPr>
              <a:t>DECODELABS  •  DIGITAL MARKETING PROJECT 1                                 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82296" cy="1828800"/>
          </a:xfrm>
          <a:prstGeom prst="rect">
            <a:avLst/>
          </a:prstGeom>
          <a:solidFill>
            <a:srgbClr val="4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56232"/>
            <a:ext cx="31089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66048"/>
                </a:solidFill>
                <a:latin typeface="Aptos"/>
              </a:rPr>
              <a:t>College 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13432"/>
            <a:ext cx="3090672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A3028"/>
                </a:solidFill>
                <a:latin typeface="Aptos"/>
              </a:rPr>
              <a:t>Age 18–24
Need: affordable snacks, study breaks, hangout spots
Content hook: combo offers, reels, polls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9164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691640"/>
            <a:ext cx="82296" cy="1828800"/>
          </a:xfrm>
          <a:prstGeom prst="rect">
            <a:avLst/>
          </a:prstGeom>
          <a:solidFill>
            <a:srgbClr val="B05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56232"/>
            <a:ext cx="31089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B05E40"/>
                </a:solidFill>
                <a:latin typeface="Aptos"/>
              </a:rPr>
              <a:t>Young professionals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13432"/>
            <a:ext cx="3090672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A3028"/>
                </a:solidFill>
                <a:latin typeface="Aptos"/>
              </a:rPr>
              <a:t>Age 22–35
Need: coffee breaks, quick meals, informal meetups
Content hook: coffee routines, lunch specials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69164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0144" y="1691640"/>
            <a:ext cx="82296" cy="1828800"/>
          </a:xfrm>
          <a:prstGeom prst="rect">
            <a:avLst/>
          </a:prstGeom>
          <a:solidFill>
            <a:srgbClr val="DAB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56232"/>
            <a:ext cx="31089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DAB78B"/>
                </a:solidFill>
                <a:latin typeface="Aptos"/>
              </a:rPr>
              <a:t>Local friends &amp; families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13432"/>
            <a:ext cx="3090672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A3028"/>
                </a:solidFill>
                <a:latin typeface="Aptos"/>
              </a:rPr>
              <a:t>Age 25–40+
Need: relaxed ambience, menu variety, weekend plans
Content hook: ambience, shareable food, events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77639"/>
            <a:ext cx="10744200" cy="1371600"/>
          </a:xfrm>
          <a:prstGeom prst="roundRect">
            <a:avLst/>
          </a:prstGeom>
          <a:solidFill>
            <a:srgbClr val="EB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224528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66048"/>
                </a:solidFill>
                <a:latin typeface="Aptos"/>
              </a:rPr>
              <a:t>Audience insight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160520"/>
            <a:ext cx="822960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A3028"/>
                </a:solidFill>
                <a:latin typeface="Aptos"/>
              </a:rPr>
              <a:t>People often choose cafés with their eyes first: appetising visuals, clear prices or offers, location cues and a welcoming atmosphere can help turn interest into a visit.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15000"/>
            <a:ext cx="105156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86C62"/>
                </a:solidFill>
                <a:latin typeface="Aptos"/>
              </a:rPr>
              <a:t>Primary channels: Instagram for visual discovery; Facebook for local updates and community sharing.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05E40"/>
                </a:solidFill>
                <a:latin typeface="Aptos"/>
              </a:rPr>
              <a:t>04 / CONTENT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A3028"/>
                </a:solidFill>
                <a:latin typeface="Aptos"/>
              </a:rPr>
              <a:t>Goals and content pillars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22860"/>
          </a:xfrm>
          <a:prstGeom prst="rect">
            <a:avLst/>
          </a:prstGeom>
          <a:solidFill>
            <a:srgbClr val="C3D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86C62"/>
                </a:solidFill>
                <a:latin typeface="Aptos"/>
              </a:rPr>
              <a:t>DECODELABS  •  DIGITAL MARKETING PROJECT 1                                 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3657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B05E40"/>
                </a:solidFill>
                <a:latin typeface="Aptos"/>
              </a:rPr>
              <a:t>Three practical 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3931920" cy="2011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A3028"/>
                </a:solidFill>
                <a:latin typeface="Aptos"/>
              </a:defRPr>
            </a:pPr>
            <a:r>
              <a:t>•  Increase local awareness of the café</a:t>
            </a:r>
          </a:p>
          <a:p>
            <a:pPr>
              <a:spcAft>
                <a:spcPts val="1200"/>
              </a:spcAft>
              <a:defRPr sz="1600">
                <a:solidFill>
                  <a:srgbClr val="2A3028"/>
                </a:solidFill>
                <a:latin typeface="Aptos"/>
              </a:defRPr>
            </a:pPr>
            <a:r>
              <a:t>•  Encourage saves, shares, comments and profile visits</a:t>
            </a:r>
          </a:p>
          <a:p>
            <a:pPr>
              <a:spcAft>
                <a:spcPts val="1200"/>
              </a:spcAft>
              <a:defRPr sz="1600">
                <a:solidFill>
                  <a:srgbClr val="2A3028"/>
                </a:solidFill>
                <a:latin typeface="Aptos"/>
              </a:defRPr>
            </a:pPr>
            <a:r>
              <a:t>•  Convert interest into visits, enquiries and offer redemptions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1572768"/>
            <a:ext cx="3657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B05E40"/>
                </a:solidFill>
                <a:latin typeface="Aptos"/>
              </a:rPr>
              <a:t>Content mix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2011680"/>
            <a:ext cx="585216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66360" y="2011680"/>
            <a:ext cx="109728" cy="621792"/>
          </a:xfrm>
          <a:prstGeom prst="rect">
            <a:avLst/>
          </a:prstGeom>
          <a:solidFill>
            <a:srgbClr val="4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2121408"/>
            <a:ext cx="2331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66048"/>
                </a:solidFill>
                <a:latin typeface="Aptos"/>
              </a:rPr>
              <a:t>MENU SPOTLIGHT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121408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A3028"/>
                </a:solidFill>
                <a:latin typeface="Aptos"/>
              </a:rPr>
              <a:t>Drinks, dishes, close-ups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2816352"/>
            <a:ext cx="585216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6360" y="2816352"/>
            <a:ext cx="109728" cy="621792"/>
          </a:xfrm>
          <a:prstGeom prst="rect">
            <a:avLst/>
          </a:prstGeom>
          <a:solidFill>
            <a:srgbClr val="B05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2926080"/>
            <a:ext cx="2331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05E40"/>
                </a:solidFill>
                <a:latin typeface="Aptos"/>
              </a:rPr>
              <a:t>BEHIND THE SCENES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926080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A3028"/>
                </a:solidFill>
                <a:latin typeface="Aptos"/>
              </a:rPr>
              <a:t>Preparation, staff, daily routine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3621024"/>
            <a:ext cx="585216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66360" y="3621024"/>
            <a:ext cx="109728" cy="621792"/>
          </a:xfrm>
          <a:prstGeom prst="rect">
            <a:avLst/>
          </a:prstGeom>
          <a:solidFill>
            <a:srgbClr val="DAB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3730752"/>
            <a:ext cx="2331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AB78B"/>
                </a:solidFill>
                <a:latin typeface="Aptos"/>
              </a:rPr>
              <a:t>CAFÉ EXPERIENCE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730752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A3028"/>
                </a:solidFill>
                <a:latin typeface="Aptos"/>
              </a:rPr>
              <a:t>Ambience, study corners, meetups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6360" y="4425696"/>
            <a:ext cx="585216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66360" y="4425696"/>
            <a:ext cx="109728" cy="621792"/>
          </a:xfrm>
          <a:prstGeom prst="rect">
            <a:avLst/>
          </a:prstGeom>
          <a:solidFill>
            <a:srgbClr val="4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80" y="4535424"/>
            <a:ext cx="2331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66048"/>
                </a:solidFill>
                <a:latin typeface="Aptos"/>
              </a:rPr>
              <a:t>COMMUNITY &amp; OFFERS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535424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A3028"/>
                </a:solidFill>
                <a:latin typeface="Aptos"/>
              </a:rPr>
              <a:t>Polls, reviews, combos, events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40680"/>
            <a:ext cx="106070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466048"/>
                </a:solidFill>
                <a:latin typeface="Aptos"/>
              </a:rPr>
              <a:t>Suggested balance: 40% menu, 25% experience, 20% community, 15% behind-the-scenes.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05E40"/>
                </a:solidFill>
                <a:latin typeface="Aptos"/>
              </a:rPr>
              <a:t>05 / CONTENT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A3028"/>
                </a:solidFill>
                <a:latin typeface="Aptos"/>
              </a:rPr>
              <a:t>What should we post?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22860"/>
          </a:xfrm>
          <a:prstGeom prst="rect">
            <a:avLst/>
          </a:prstGeom>
          <a:solidFill>
            <a:srgbClr val="C3D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86C62"/>
                </a:solidFill>
                <a:latin typeface="Aptos"/>
              </a:rPr>
              <a:t>DECODELABS  •  DIGITAL MARKETING PROJECT 1                                 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82296" cy="1115568"/>
          </a:xfrm>
          <a:prstGeom prst="rect">
            <a:avLst/>
          </a:prstGeom>
          <a:solidFill>
            <a:srgbClr val="4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48006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66048"/>
                </a:solidFill>
                <a:latin typeface="Aptos"/>
              </a:rPr>
              <a:t>01  Reel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67712"/>
            <a:ext cx="478231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A3028"/>
                </a:solidFill>
                <a:latin typeface="Aptos"/>
              </a:rPr>
              <a:t>“A day at Brew &amp; Bite” — quick clips of coffee being made, food served and the café atmosphere.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166360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82296" cy="1115568"/>
          </a:xfrm>
          <a:prstGeom prst="rect">
            <a:avLst/>
          </a:prstGeom>
          <a:solidFill>
            <a:srgbClr val="B05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10512"/>
            <a:ext cx="48006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B05E40"/>
                </a:solidFill>
                <a:latin typeface="Aptos"/>
              </a:rPr>
              <a:t>02  Carousel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67712"/>
            <a:ext cx="478231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A3028"/>
                </a:solidFill>
                <a:latin typeface="Aptos"/>
              </a:rPr>
              <a:t>“3 favourites from our menu” — one item per slide with a short description and price.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99232"/>
            <a:ext cx="5166360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999232"/>
            <a:ext cx="82296" cy="1115568"/>
          </a:xfrm>
          <a:prstGeom prst="rect">
            <a:avLst/>
          </a:prstGeom>
          <a:solidFill>
            <a:srgbClr val="DAB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163824"/>
            <a:ext cx="48006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DAB78B"/>
                </a:solidFill>
                <a:latin typeface="Aptos"/>
              </a:rPr>
              <a:t>03  Story poll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621024"/>
            <a:ext cx="478231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A3028"/>
                </a:solidFill>
                <a:latin typeface="Aptos"/>
              </a:rPr>
              <a:t>“Iced coffee or hot coffee?” — invite followers to vote and reply.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999232"/>
            <a:ext cx="5166360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999232"/>
            <a:ext cx="82296" cy="1115568"/>
          </a:xfrm>
          <a:prstGeom prst="rect">
            <a:avLst/>
          </a:prstGeom>
          <a:solidFill>
            <a:srgbClr val="4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163824"/>
            <a:ext cx="48006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66048"/>
                </a:solidFill>
                <a:latin typeface="Aptos"/>
              </a:rPr>
              <a:t>04  Photo 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621024"/>
            <a:ext cx="478231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A3028"/>
                </a:solidFill>
                <a:latin typeface="Aptos"/>
              </a:rPr>
              <a:t>Feature a signature drink or dish with a clear caption and visit prompt.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52544"/>
            <a:ext cx="5166360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352544"/>
            <a:ext cx="82296" cy="1115568"/>
          </a:xfrm>
          <a:prstGeom prst="rect">
            <a:avLst/>
          </a:prstGeom>
          <a:solidFill>
            <a:srgbClr val="B05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517136"/>
            <a:ext cx="48006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B05E40"/>
                </a:solidFill>
                <a:latin typeface="Aptos"/>
              </a:rPr>
              <a:t>05  Behind the scenes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974336"/>
            <a:ext cx="478231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A3028"/>
                </a:solidFill>
                <a:latin typeface="Aptos"/>
              </a:rPr>
              <a:t>Show the team preparing an order or setting up before opening.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352544"/>
            <a:ext cx="5166360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352544"/>
            <a:ext cx="82296" cy="1115568"/>
          </a:xfrm>
          <a:prstGeom prst="rect">
            <a:avLst/>
          </a:prstGeom>
          <a:solidFill>
            <a:srgbClr val="DAB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4517136"/>
            <a:ext cx="48006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DAB78B"/>
                </a:solidFill>
                <a:latin typeface="Aptos"/>
              </a:rPr>
              <a:t>06  Community 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974336"/>
            <a:ext cx="478231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A3028"/>
                </a:solidFill>
                <a:latin typeface="Aptos"/>
              </a:rPr>
              <a:t>Share a customer review (with permission) or a local weekend recommendation.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897880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66048"/>
                </a:solidFill>
                <a:latin typeface="Aptos"/>
              </a:rPr>
              <a:t>Every post should have one clear purpose: attract attention, start a conversation, or encourage a visit.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05E40"/>
                </a:solidFill>
                <a:latin typeface="Aptos"/>
              </a:rPr>
              <a:t>06 / WEEKLY CALENDAR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A3028"/>
                </a:solidFill>
                <a:latin typeface="Aptos"/>
              </a:rPr>
              <a:t>A practical 7-day posting schedule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22860"/>
          </a:xfrm>
          <a:prstGeom prst="rect">
            <a:avLst/>
          </a:prstGeom>
          <a:solidFill>
            <a:srgbClr val="C3D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86C62"/>
                </a:solidFill>
                <a:latin typeface="Aptos"/>
              </a:rPr>
              <a:t>DECODELABS  •  DIGITAL MARKETING PROJECT 1                                  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442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148840"/>
                <a:gridCol w="4663440"/>
                <a:gridCol w="3017520"/>
              </a:tblGrid>
              <a:tr h="53721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Day</a:t>
                      </a:r>
                    </a:p>
                  </a:txBody>
                  <a:tcPr marL="91440" marR="73152" marT="45720" marB="36576" anchor="ctr">
                    <a:solidFill>
                      <a:srgbClr val="4660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Format / channel</a:t>
                      </a:r>
                    </a:p>
                  </a:txBody>
                  <a:tcPr marL="91440" marR="73152" marT="45720" marB="36576" anchor="ctr">
                    <a:solidFill>
                      <a:srgbClr val="4660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Content idea</a:t>
                      </a:r>
                    </a:p>
                  </a:txBody>
                  <a:tcPr marL="91440" marR="73152" marT="45720" marB="36576" anchor="ctr">
                    <a:solidFill>
                      <a:srgbClr val="4660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 marL="91440" marR="73152" marT="45720" marB="36576" anchor="ctr">
                    <a:solidFill>
                      <a:srgbClr val="466048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A3028"/>
                          </a:solidFill>
                          <a:latin typeface="Aptos"/>
                        </a:defRPr>
                      </a:pPr>
                      <a:r>
                        <a:t>Mon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28"/>
                          </a:solidFill>
                          <a:latin typeface="Aptos"/>
                        </a:defRPr>
                      </a:pPr>
                      <a:r>
                        <a:t>Instagram Story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28"/>
                          </a:solidFill>
                          <a:latin typeface="Aptos"/>
                        </a:defRPr>
                      </a:pPr>
                      <a:r>
                        <a:t>Weekly menu teaser + poll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28"/>
                          </a:solidFill>
                          <a:latin typeface="Aptos"/>
                        </a:defRPr>
                      </a:pPr>
                      <a:r>
                        <a:t>Start conversations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A3028"/>
                          </a:solidFill>
                          <a:latin typeface="Aptos"/>
                        </a:defRPr>
                      </a:pPr>
                      <a:r>
                        <a:t>Tue</a:t>
                      </a:r>
                    </a:p>
                  </a:txBody>
                  <a:tcPr marL="91440" marR="73152" marT="45720" marB="36576" anchor="ctr">
                    <a:solidFill>
                      <a:srgbClr val="EBE6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28"/>
                          </a:solidFill>
                          <a:latin typeface="Aptos"/>
                        </a:defRPr>
                      </a:pPr>
                      <a:r>
                        <a:t>Instagram Reel</a:t>
                      </a:r>
                    </a:p>
                  </a:txBody>
                  <a:tcPr marL="91440" marR="73152" marT="45720" marB="36576" anchor="ctr">
                    <a:solidFill>
                      <a:srgbClr val="EBE6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28"/>
                          </a:solidFill>
                          <a:latin typeface="Aptos"/>
                        </a:defRPr>
                      </a:pPr>
                      <a:r>
                        <a:t>Coffee-making / food-prep video</a:t>
                      </a:r>
                    </a:p>
                  </a:txBody>
                  <a:tcPr marL="91440" marR="73152" marT="45720" marB="36576" anchor="ctr">
                    <a:solidFill>
                      <a:srgbClr val="EBE6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28"/>
                          </a:solidFill>
                          <a:latin typeface="Aptos"/>
                        </a:defRPr>
                      </a:pPr>
                      <a:r>
                        <a:t>Reach new people</a:t>
                      </a:r>
                    </a:p>
                  </a:txBody>
                  <a:tcPr marL="91440" marR="73152" marT="45720" marB="36576" anchor="ctr">
                    <a:solidFill>
                      <a:srgbClr val="EBE6D9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A3028"/>
                          </a:solidFill>
                          <a:latin typeface="Aptos"/>
                        </a:defRPr>
                      </a:pPr>
                      <a:r>
                        <a:t>Wed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28"/>
                          </a:solidFill>
                          <a:latin typeface="Aptos"/>
                        </a:defRPr>
                      </a:pPr>
                      <a:r>
                        <a:t>Instagram carousel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28"/>
                          </a:solidFill>
                          <a:latin typeface="Aptos"/>
                        </a:defRPr>
                      </a:pPr>
                      <a:r>
                        <a:t>3 menu favourites with prices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28"/>
                          </a:solidFill>
                          <a:latin typeface="Aptos"/>
                        </a:defRPr>
                      </a:pPr>
                      <a:r>
                        <a:t>Saves and shares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A3028"/>
                          </a:solidFill>
                          <a:latin typeface="Aptos"/>
                        </a:defRPr>
                      </a:pPr>
                      <a:r>
                        <a:t>Thu</a:t>
                      </a:r>
                    </a:p>
                  </a:txBody>
                  <a:tcPr marL="91440" marR="73152" marT="45720" marB="36576" anchor="ctr">
                    <a:solidFill>
                      <a:srgbClr val="EBE6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28"/>
                          </a:solidFill>
                          <a:latin typeface="Aptos"/>
                        </a:defRPr>
                      </a:pPr>
                      <a:r>
                        <a:t>Stories</a:t>
                      </a:r>
                    </a:p>
                  </a:txBody>
                  <a:tcPr marL="91440" marR="73152" marT="45720" marB="36576" anchor="ctr">
                    <a:solidFill>
                      <a:srgbClr val="EBE6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28"/>
                          </a:solidFill>
                          <a:latin typeface="Aptos"/>
                        </a:defRPr>
                      </a:pPr>
                      <a:r>
                        <a:t>Question box: ask us anything</a:t>
                      </a:r>
                    </a:p>
                  </a:txBody>
                  <a:tcPr marL="91440" marR="73152" marT="45720" marB="36576" anchor="ctr">
                    <a:solidFill>
                      <a:srgbClr val="EBE6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28"/>
                          </a:solidFill>
                          <a:latin typeface="Aptos"/>
                        </a:defRPr>
                      </a:pPr>
                      <a:r>
                        <a:t>Community engagement</a:t>
                      </a:r>
                    </a:p>
                  </a:txBody>
                  <a:tcPr marL="91440" marR="73152" marT="45720" marB="36576" anchor="ctr">
                    <a:solidFill>
                      <a:srgbClr val="EBE6D9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A3028"/>
                          </a:solidFill>
                          <a:latin typeface="Aptos"/>
                        </a:defRPr>
                      </a:pPr>
                      <a:r>
                        <a:t>Fri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28"/>
                          </a:solidFill>
                          <a:latin typeface="Aptos"/>
                        </a:defRPr>
                      </a:pPr>
                      <a:r>
                        <a:t>Instagram photo / Reel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28"/>
                          </a:solidFill>
                          <a:latin typeface="Aptos"/>
                        </a:defRPr>
                      </a:pPr>
                      <a:r>
                        <a:t>Weekend hangout vibe or combo offer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28"/>
                          </a:solidFill>
                          <a:latin typeface="Aptos"/>
                        </a:defRPr>
                      </a:pPr>
                      <a:r>
                        <a:t>Encourage visits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A3028"/>
                          </a:solidFill>
                          <a:latin typeface="Aptos"/>
                        </a:defRPr>
                      </a:pPr>
                      <a:r>
                        <a:t>Sat</a:t>
                      </a:r>
                    </a:p>
                  </a:txBody>
                  <a:tcPr marL="91440" marR="73152" marT="45720" marB="36576" anchor="ctr">
                    <a:solidFill>
                      <a:srgbClr val="EBE6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28"/>
                          </a:solidFill>
                          <a:latin typeface="Aptos"/>
                        </a:defRPr>
                      </a:pPr>
                      <a:r>
                        <a:t>Instagram + Facebook</a:t>
                      </a:r>
                    </a:p>
                  </a:txBody>
                  <a:tcPr marL="91440" marR="73152" marT="45720" marB="36576" anchor="ctr">
                    <a:solidFill>
                      <a:srgbClr val="EBE6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28"/>
                          </a:solidFill>
                          <a:latin typeface="Aptos"/>
                        </a:defRPr>
                      </a:pPr>
                      <a:r>
                        <a:t>Customer moment / café ambience</a:t>
                      </a:r>
                    </a:p>
                  </a:txBody>
                  <a:tcPr marL="91440" marR="73152" marT="45720" marB="36576" anchor="ctr">
                    <a:solidFill>
                      <a:srgbClr val="EBE6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28"/>
                          </a:solidFill>
                          <a:latin typeface="Aptos"/>
                        </a:defRPr>
                      </a:pPr>
                      <a:r>
                        <a:t>Social proof</a:t>
                      </a:r>
                    </a:p>
                  </a:txBody>
                  <a:tcPr marL="91440" marR="73152" marT="45720" marB="36576" anchor="ctr">
                    <a:solidFill>
                      <a:srgbClr val="EBE6D9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A3028"/>
                          </a:solidFill>
                          <a:latin typeface="Aptos"/>
                        </a:defRPr>
                      </a:pPr>
                      <a:r>
                        <a:t>Sun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28"/>
                          </a:solidFill>
                          <a:latin typeface="Aptos"/>
                        </a:defRPr>
                      </a:pPr>
                      <a:r>
                        <a:t>Stories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28"/>
                          </a:solidFill>
                          <a:latin typeface="Aptos"/>
                        </a:defRPr>
                      </a:pPr>
                      <a:r>
                        <a:t>Next-week teaser + feedback poll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28"/>
                          </a:solidFill>
                          <a:latin typeface="Aptos"/>
                        </a:defRPr>
                      </a:pPr>
                      <a:r>
                        <a:t>Retention and ideas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6080760"/>
            <a:ext cx="10515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686C62"/>
                </a:solidFill>
                <a:latin typeface="Aptos"/>
              </a:rPr>
              <a:t>Suggested starting point: 4 feed posts + Stories on most days. Adjust after reviewing results.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05E40"/>
                </a:solidFill>
                <a:latin typeface="Aptos"/>
              </a:rPr>
              <a:t>07 / READY-TO-USE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A3028"/>
                </a:solidFill>
                <a:latin typeface="Aptos"/>
              </a:rPr>
              <a:t>Sample captions and calls to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22860"/>
          </a:xfrm>
          <a:prstGeom prst="rect">
            <a:avLst/>
          </a:prstGeom>
          <a:solidFill>
            <a:srgbClr val="C3D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86C62"/>
                </a:solidFill>
                <a:latin typeface="Aptos"/>
              </a:rPr>
              <a:t>DECODELABS  •  DIGITAL MARKETING PROJECT 1                                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82296" cy="1874519"/>
          </a:xfrm>
          <a:prstGeom prst="rect">
            <a:avLst/>
          </a:prstGeom>
          <a:solidFill>
            <a:srgbClr val="4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56232"/>
            <a:ext cx="48463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66048"/>
                </a:solidFill>
                <a:latin typeface="Aptos"/>
              </a:rPr>
              <a:t>REEL: Coffee in the making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13432"/>
            <a:ext cx="4828032" cy="1124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A3028"/>
                </a:solidFill>
                <a:latin typeface="Aptos"/>
              </a:rPr>
              <a:t>“Your little coffee break, one pour at a time ☕ Come by for your favourite cup.
CTA: Tag your coffee buddy.”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91640"/>
            <a:ext cx="52120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691640"/>
            <a:ext cx="82296" cy="1874519"/>
          </a:xfrm>
          <a:prstGeom prst="rect">
            <a:avLst/>
          </a:prstGeom>
          <a:solidFill>
            <a:srgbClr val="B05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856232"/>
            <a:ext cx="48463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B05E40"/>
                </a:solidFill>
                <a:latin typeface="Aptos"/>
              </a:rPr>
              <a:t>CAROUSEL: Menu favourites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313432"/>
            <a:ext cx="4828032" cy="1124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A3028"/>
                </a:solidFill>
                <a:latin typeface="Aptos"/>
              </a:rPr>
              <a:t>“Can’t decide what to order? Start with these three crowd-pleasers.
CTA: Save this for your next visit.”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52120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82296" cy="1874519"/>
          </a:xfrm>
          <a:prstGeom prst="rect">
            <a:avLst/>
          </a:prstGeom>
          <a:solidFill>
            <a:srgbClr val="DAB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005072"/>
            <a:ext cx="48463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DAB78B"/>
                </a:solidFill>
                <a:latin typeface="Aptos"/>
              </a:rPr>
              <a:t>STORY POLL: Pick your mood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462272"/>
            <a:ext cx="4828032" cy="1124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A3028"/>
                </a:solidFill>
                <a:latin typeface="Aptos"/>
              </a:rPr>
              <a:t>“Today’s mood: iced coffee 🧊 or hot coffee ☕?”
CTA: Vote in the poll.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840480"/>
            <a:ext cx="52120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840480"/>
            <a:ext cx="82296" cy="1874519"/>
          </a:xfrm>
          <a:prstGeom prst="rect">
            <a:avLst/>
          </a:prstGeom>
          <a:solidFill>
            <a:srgbClr val="4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4005072"/>
            <a:ext cx="48463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66048"/>
                </a:solidFill>
                <a:latin typeface="Aptos"/>
              </a:rPr>
              <a:t>WEEKEND POST: Meet-up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4462272"/>
            <a:ext cx="4828032" cy="1124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A3028"/>
                </a:solidFill>
                <a:latin typeface="Aptos"/>
              </a:rPr>
              <a:t>“Good food, good company, and a table waiting for you.
CTA: Send this to your weekend plan group.”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05E40"/>
                </a:solidFill>
                <a:latin typeface="Aptos"/>
              </a:rPr>
              <a:t>08 /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A3028"/>
                </a:solidFill>
                <a:latin typeface="Aptos"/>
              </a:rPr>
              <a:t>How we will manage and improve the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22860"/>
          </a:xfrm>
          <a:prstGeom prst="rect">
            <a:avLst/>
          </a:prstGeom>
          <a:solidFill>
            <a:srgbClr val="C3D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86C62"/>
                </a:solidFill>
                <a:latin typeface="Aptos"/>
              </a:rPr>
              <a:t>DECODELABS  •  DIGITAL MARKETING PROJECT 1                                 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96596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457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05E40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1645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66048"/>
                </a:solidFill>
                <a:latin typeface="Aptos"/>
              </a:rP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16642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A3028"/>
                </a:solidFill>
                <a:latin typeface="Aptos"/>
              </a:rPr>
              <a:t>Choose topics and write captions one week ahead.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44368" y="1828800"/>
            <a:ext cx="196596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1527" y="1993392"/>
            <a:ext cx="457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05E40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7" y="2331720"/>
            <a:ext cx="1645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66048"/>
                </a:solidFill>
                <a:latin typeface="Aptos"/>
              </a:rPr>
              <a:t>Create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7" y="2743200"/>
            <a:ext cx="16642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A3028"/>
                </a:solidFill>
                <a:latin typeface="Aptos"/>
              </a:rPr>
              <a:t>Capture clear photos and short vertical videos in batches.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57216" y="1828800"/>
            <a:ext cx="196596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94376" y="1993392"/>
            <a:ext cx="457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05E40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4376" y="2331720"/>
            <a:ext cx="1645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66048"/>
                </a:solidFill>
                <a:latin typeface="Aptos"/>
              </a:rPr>
              <a:t>Publish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4376" y="2743200"/>
            <a:ext cx="16642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A3028"/>
                </a:solidFill>
                <a:latin typeface="Aptos"/>
              </a:rPr>
              <a:t>Post according to the calendar and add relevant location tags.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0064" y="1828800"/>
            <a:ext cx="196596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1993392"/>
            <a:ext cx="457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05E4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7224" y="2331720"/>
            <a:ext cx="1645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66048"/>
                </a:solidFill>
                <a:latin typeface="Aptos"/>
              </a:rPr>
              <a:t>Engage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7224" y="2743200"/>
            <a:ext cx="16642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A3028"/>
                </a:solidFill>
                <a:latin typeface="Aptos"/>
              </a:rPr>
              <a:t>Reply to comments and messages in a friendly, timely way.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82912" y="1828800"/>
            <a:ext cx="196596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0072" y="1993392"/>
            <a:ext cx="457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05E40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0072" y="2331720"/>
            <a:ext cx="1645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66048"/>
                </a:solidFill>
                <a:latin typeface="Aptos"/>
              </a:rP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72" y="2743200"/>
            <a:ext cx="16642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A3028"/>
                </a:solidFill>
                <a:latin typeface="Aptos"/>
              </a:rPr>
              <a:t>Check results weekly and repeat formats that perform well.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977639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B05E40"/>
                </a:solidFill>
                <a:latin typeface="Aptos"/>
              </a:rPr>
              <a:t>Track these simple metrics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434840"/>
            <a:ext cx="25146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434840"/>
            <a:ext cx="82296" cy="1143000"/>
          </a:xfrm>
          <a:prstGeom prst="rect">
            <a:avLst/>
          </a:prstGeom>
          <a:solidFill>
            <a:srgbClr val="4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599431"/>
            <a:ext cx="21488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66048"/>
                </a:solidFill>
                <a:latin typeface="Aptos"/>
              </a:rPr>
              <a:t>Reach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5056631"/>
            <a:ext cx="213055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A3028"/>
                </a:solidFill>
                <a:latin typeface="Aptos"/>
              </a:rPr>
              <a:t>How many accounts saw content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9000" y="4434840"/>
            <a:ext cx="25146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29000" y="4434840"/>
            <a:ext cx="82296" cy="1143000"/>
          </a:xfrm>
          <a:prstGeom prst="rect">
            <a:avLst/>
          </a:prstGeom>
          <a:solidFill>
            <a:srgbClr val="B05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30168" y="4599431"/>
            <a:ext cx="21488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B05E40"/>
                </a:solidFill>
                <a:latin typeface="Aptos"/>
              </a:rPr>
              <a:t>Engagement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30168" y="5056631"/>
            <a:ext cx="213055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A3028"/>
                </a:solidFill>
                <a:latin typeface="Aptos"/>
              </a:rPr>
              <a:t>Likes, comments, shares, saves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4434840"/>
            <a:ext cx="25146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4434840"/>
            <a:ext cx="82296" cy="1143000"/>
          </a:xfrm>
          <a:prstGeom prst="rect">
            <a:avLst/>
          </a:prstGeom>
          <a:solidFill>
            <a:srgbClr val="DAB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27648" y="4599431"/>
            <a:ext cx="21488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DAB78B"/>
                </a:solidFill>
                <a:latin typeface="Aptos"/>
              </a:rPr>
              <a:t>Profile actions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5056631"/>
            <a:ext cx="213055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A3028"/>
                </a:solidFill>
                <a:latin typeface="Aptos"/>
              </a:rPr>
              <a:t>Profile visits, clicks, messages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23960" y="4434840"/>
            <a:ext cx="25146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823960" y="4434840"/>
            <a:ext cx="82296" cy="1143000"/>
          </a:xfrm>
          <a:prstGeom prst="rect">
            <a:avLst/>
          </a:prstGeom>
          <a:solidFill>
            <a:srgbClr val="4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25128" y="4599431"/>
            <a:ext cx="21488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66048"/>
                </a:solidFill>
                <a:latin typeface="Aptos"/>
              </a:rPr>
              <a:t>Visits / offers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25128" y="5056631"/>
            <a:ext cx="213055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A3028"/>
                </a:solidFill>
                <a:latin typeface="Aptos"/>
              </a:rPr>
              <a:t>Enquiries or offer redemptions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897880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66048"/>
                </a:solidFill>
                <a:latin typeface="Aptos"/>
              </a:rPr>
              <a:t>Review weekly; compare similar posts rather than judging success from likes alone.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AB78B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8046720" cy="1828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8F4EB"/>
                </a:solidFill>
                <a:latin typeface="Aptos"/>
              </a:rPr>
              <a:t>A simple plan.
A consistent voice.
A stronger local community.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703320"/>
            <a:ext cx="960120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C3D0B8"/>
                </a:solidFill>
                <a:latin typeface="Aptos"/>
              </a:rPr>
              <a:t>This content plan gives Brew &amp; Bite Café a clear starting point: understand the audience, share useful and appealing content, follow a realistic schedule, and use performance insights to improve.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983480"/>
            <a:ext cx="1143000" cy="54864"/>
          </a:xfrm>
          <a:prstGeom prst="rect">
            <a:avLst/>
          </a:prstGeom>
          <a:solidFill>
            <a:srgbClr val="B05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349240"/>
            <a:ext cx="36576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DAB78B"/>
                </a:solidFill>
                <a:latin typeface="Apto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035040"/>
            <a:ext cx="6400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C3D0B8"/>
                </a:solidFill>
                <a:latin typeface="Aptos"/>
              </a:rPr>
              <a:t>DecodeLabs • Digital Marketing Project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